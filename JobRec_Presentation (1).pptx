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E2761"/>
                </a:solidFill>
                <a:latin typeface="Arial"/>
              </a:rPr>
              <a:t>Most requested skills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postings</c:v>
                </c:pt>
              </c:strCache>
            </c:strRef>
          </c:tx>
          <c:spPr>
            <a:solidFill>
              <a:srgbClr val="2F5BE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sql</c:v>
                  </c:pt>
                  <c:pt idx="1">
                    <c:v>excel</c:v>
                  </c:pt>
                  <c:pt idx="2">
                    <c:v>python</c:v>
                  </c:pt>
                  <c:pt idx="3">
                    <c:v>tableau</c:v>
                  </c:pt>
                  <c:pt idx="4">
                    <c:v>power_bi</c:v>
                  </c:pt>
                  <c:pt idx="5">
                    <c:v>r</c:v>
                  </c:pt>
                  <c:pt idx="6">
                    <c:v>sas</c:v>
                  </c:pt>
                  <c:pt idx="7">
                    <c:v>azure</c:v>
                  </c:pt>
                  <c:pt idx="8">
                    <c:v>snowflake</c:v>
                  </c:pt>
                  <c:pt idx="9">
                    <c:v>aws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5698</c:v>
                </c:pt>
                <c:pt idx="1">
                  <c:v>3687</c:v>
                </c:pt>
                <c:pt idx="2">
                  <c:v>3330</c:v>
                </c:pt>
                <c:pt idx="3">
                  <c:v>3078</c:v>
                </c:pt>
                <c:pt idx="4">
                  <c:v>2854</c:v>
                </c:pt>
                <c:pt idx="5">
                  <c:v>1956</c:v>
                </c:pt>
                <c:pt idx="6">
                  <c:v>992</c:v>
                </c:pt>
                <c:pt idx="7">
                  <c:v>690</c:v>
                </c:pt>
                <c:pt idx="8">
                  <c:v>684</c:v>
                </c:pt>
                <c:pt idx="9">
                  <c:v>657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6708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670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2761"/>
                </a:solidFill>
                <a:latin typeface="Arial"/>
              </a:rPr>
              <a:t>Precision@k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popularity</c:v>
                </c:pt>
              </c:strCache>
            </c:strRef>
          </c:tx>
          <c:spPr>
            <a:solidFill>
              <a:srgbClr val="B0B7C3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66708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k = 5</c:v>
                  </c:pt>
                  <c:pt idx="1">
                    <c:v>k = 10</c:v>
                  </c:pt>
                  <c:pt idx="2">
                    <c:v>k = 20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0.009</c:v>
                </c:pt>
                <c:pt idx="1">
                  <c:v>0.011</c:v>
                </c:pt>
                <c:pt idx="2">
                  <c:v>0.01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content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66708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k = 5</c:v>
                  </c:pt>
                  <c:pt idx="1">
                    <c:v>k = 10</c:v>
                  </c:pt>
                  <c:pt idx="2">
                    <c:v>k = 20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0.023</c:v>
                </c:pt>
                <c:pt idx="1">
                  <c:v>0.018</c:v>
                </c:pt>
                <c:pt idx="2">
                  <c:v>0.014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collaborative</c:v>
                </c:pt>
              </c:strCache>
            </c:strRef>
          </c:tx>
          <c:spPr>
            <a:solidFill>
              <a:srgbClr val="6C3FE8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66708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k = 5</c:v>
                  </c:pt>
                  <c:pt idx="1">
                    <c:v>k = 10</c:v>
                  </c:pt>
                  <c:pt idx="2">
                    <c:v>k = 20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0.089</c:v>
                </c:pt>
                <c:pt idx="1">
                  <c:v>0.076</c:v>
                </c:pt>
                <c:pt idx="2">
                  <c:v>0.062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hybrid</c:v>
                </c:pt>
              </c:strCache>
            </c:strRef>
          </c:tx>
          <c:spPr>
            <a:solidFill>
              <a:srgbClr val="2F5BEA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66708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k = 5</c:v>
                  </c:pt>
                  <c:pt idx="1">
                    <c:v>k = 10</c:v>
                  </c:pt>
                  <c:pt idx="2">
                    <c:v>k = 20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0.118</c:v>
                </c:pt>
                <c:pt idx="1">
                  <c:v>0.089</c:v>
                </c:pt>
                <c:pt idx="2">
                  <c:v>0.063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700" u="none">
                  <a:solidFill>
                    <a:srgbClr val="66708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6708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670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2761"/>
                </a:solidFill>
                <a:latin typeface="Arial"/>
              </a:rPr>
              <a:t>Recall@k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popularity</c:v>
                </c:pt>
              </c:strCache>
            </c:strRef>
          </c:tx>
          <c:spPr>
            <a:solidFill>
              <a:srgbClr val="B0B7C3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66708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k = 5</c:v>
                  </c:pt>
                  <c:pt idx="1">
                    <c:v>k = 10</c:v>
                  </c:pt>
                  <c:pt idx="2">
                    <c:v>k = 20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0.009</c:v>
                </c:pt>
                <c:pt idx="1">
                  <c:v>0.026</c:v>
                </c:pt>
                <c:pt idx="2">
                  <c:v>0.05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content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66708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k = 5</c:v>
                  </c:pt>
                  <c:pt idx="1">
                    <c:v>k = 10</c:v>
                  </c:pt>
                  <c:pt idx="2">
                    <c:v>k = 20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0.03</c:v>
                </c:pt>
                <c:pt idx="1">
                  <c:v>0.05</c:v>
                </c:pt>
                <c:pt idx="2">
                  <c:v>0.073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collaborative</c:v>
                </c:pt>
              </c:strCache>
            </c:strRef>
          </c:tx>
          <c:spPr>
            <a:solidFill>
              <a:srgbClr val="6C3FE8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66708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k = 5</c:v>
                  </c:pt>
                  <c:pt idx="1">
                    <c:v>k = 10</c:v>
                  </c:pt>
                  <c:pt idx="2">
                    <c:v>k = 20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0.115</c:v>
                </c:pt>
                <c:pt idx="1">
                  <c:v>0.194</c:v>
                </c:pt>
                <c:pt idx="2">
                  <c:v>0.316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hybrid</c:v>
                </c:pt>
              </c:strCache>
            </c:strRef>
          </c:tx>
          <c:spPr>
            <a:solidFill>
              <a:srgbClr val="2F5BEA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66708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k = 5</c:v>
                  </c:pt>
                  <c:pt idx="1">
                    <c:v>k = 10</c:v>
                  </c:pt>
                  <c:pt idx="2">
                    <c:v>k = 20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0.15</c:v>
                </c:pt>
                <c:pt idx="1">
                  <c:v>0.226</c:v>
                </c:pt>
                <c:pt idx="2">
                  <c:v>0.317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700" u="none">
                  <a:solidFill>
                    <a:srgbClr val="66708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6708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670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E2761"/>
                </a:solidFill>
                <a:latin typeface="Arial"/>
              </a:rPr>
              <a:t>Precision@10 vs α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precision@10</c:v>
                </c:pt>
              </c:strCache>
            </c:strRef>
          </c:tx>
          <c:spPr>
            <a:solidFill>
              <a:srgbClr val="2F5BEA"/>
            </a:solidFill>
            <a:ln w="25400" cap="flat">
              <a:solidFill>
                <a:srgbClr val="2F5BE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F5BEA"/>
              </a:solidFill>
              <a:ln w="9525" cap="flat">
                <a:solidFill>
                  <a:srgbClr val="2F5BE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0.0</c:v>
                  </c:pt>
                  <c:pt idx="1">
                    <c:v>0.1</c:v>
                  </c:pt>
                  <c:pt idx="2">
                    <c:v>0.2</c:v>
                  </c:pt>
                  <c:pt idx="3">
                    <c:v>0.3</c:v>
                  </c:pt>
                  <c:pt idx="4">
                    <c:v>0.4</c:v>
                  </c:pt>
                  <c:pt idx="5">
                    <c:v>0.5</c:v>
                  </c:pt>
                  <c:pt idx="6">
                    <c:v>0.6</c:v>
                  </c:pt>
                  <c:pt idx="7">
                    <c:v>0.8</c:v>
                  </c:pt>
                  <c:pt idx="8">
                    <c:v>1.0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0.076</c:v>
                </c:pt>
                <c:pt idx="1">
                  <c:v>0.081</c:v>
                </c:pt>
                <c:pt idx="2">
                  <c:v>0.085</c:v>
                </c:pt>
                <c:pt idx="3">
                  <c:v>0.089</c:v>
                </c:pt>
                <c:pt idx="4">
                  <c:v>0.083</c:v>
                </c:pt>
                <c:pt idx="5">
                  <c:v>0.071</c:v>
                </c:pt>
                <c:pt idx="6">
                  <c:v>0.056</c:v>
                </c:pt>
                <c:pt idx="7">
                  <c:v>0.028</c:v>
                </c:pt>
                <c:pt idx="8">
                  <c:v>0.018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6708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670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yourself: name, candidate number, project title, supervisor. One sentence on what you will cover: problem, solution, algorithm, evaluation, live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limitations of keyword search with the Python example. Read the research question aloud.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the four cards to the four objectives in the proposal. Mention the stack: Python, pandas, scikit-learn, SciPy, Flask, SQLite.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Emphasise: proposal asked for ≥5,000 postings with skill annotations – delivered 8,000 with 127 skills. Ethics: only public postings.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right. Content: TF-IDF + cosine + skill overlap. Collaborative: item-kNN and SVD (Koren, Bell &amp; Volinsky 2009). Hybrid: weighted blend, alpha 0.3 by grid search, cold-start fallback. Every result is explainable.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honest: users are simulated. Explain why the simulation is realistic (tracks + skill overlap) and that it is a stated limitation.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Hybrid is best at every k. Precision@10: popularity 0.011, content 0.018, collaborative 0.076, hybrid 0.089. Random ≈ 0.0005. Recall@20 hybrid 0.317.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why absolute precision is low in top-k evaluation and why the relative comparison matters. Alpha curve peaks at 0.3.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Transition: 'Now let me show you the system running.' Switch to the browser for the live demo (see Part B of the presentation pack).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Follow Part B of the presentation pack step by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critical awareness – examiners reward honest limitations tied to concrete next steps.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summary and invite questions. See Part C of the presentation pack for likely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18872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AI-Powered Job Recommendation System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1031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Machine Learning for Skills-Based Career Matching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10896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Syed Mohiuddin Mudassir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415789 · MSc Computer Science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Dr. Paul Sant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949440" y="2926080"/>
            <a:ext cx="1463040" cy="1463040"/>
          </a:xfrm>
          <a:prstGeom prst="ellipse">
            <a:avLst/>
          </a:prstGeom>
          <a:solidFill>
            <a:srgbClr val="2F5BEA"/>
          </a:solidFill>
          <a:ln w="12700">
            <a:solidFill>
              <a:srgbClr val="2F5B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949440" y="292608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FFFFFF"/>
                </a:solidFill>
              </a:rPr>
              <a:t>⬢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search does not understand people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47548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Graduate job boards still rely on keyword matching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search for “Python” returns every posting that mentions Python – regardless of fit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Misses user intent, skills transferability and career progression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 are overlooked; recruiters spend longer hiring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0" y="1371600"/>
            <a:ext cx="3200400" cy="2834640"/>
          </a:xfrm>
          <a:prstGeom prst="roundRect">
            <a:avLst>
              <a:gd name="adj" fmla="val 322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0" y="15087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669280" y="1874520"/>
            <a:ext cx="2834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can an AI-driven recommendation system improve job matching by understanding the connections between user skills, experience and job requirements?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Syed Mohiuddin Mudassir · 415789 · MSc Computer Science · AI-Powered Job Recommendation System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solution: JobRec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web-based intelligent job recommendation engine – four objectives from the proposal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3716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Parse profiles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69164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Skills, education and experience are normalised (“Power BI” → power_bi) and vectorised.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28016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00600" y="13716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Process postings with NLP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800600" y="169164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over title, skills and description of 8,000 real postings.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88036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29718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Hybrid recommendations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329184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Content-based + collaborative filtering, blended with weight α; explainable results.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288036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00600" y="29718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Evaluate accuracy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800600" y="329184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Precision@k, recall@k, hit-rate@k and NDCG@k on a held-out split.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Syed Mohiuddin Mudassir · 415789 · MSc Computer Science · AI-Powered Job Recommendation System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dataset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– “Data Analyst Job Postings [Pay, Skills, Benefits]” (Luke Barousse, Google Jobs) – public postings only, no personal data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F5B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28,375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0116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postings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2651760" y="13716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F5B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8,000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2651760" y="20116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postings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3716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F5B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127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4846320" y="20116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annotated skills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040880" y="13716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F5B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43%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7040880" y="2011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roles</a:t>
            </a:r>
            <a:endParaRPr lang="en-US" sz="11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457200" y="2514600"/>
          <a:ext cx="5120640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10"/>
          <p:cNvSpPr txBox="1"/>
          <p:nvPr/>
        </p:nvSpPr>
        <p:spPr>
          <a:xfrm>
            <a:off x="5760720" y="2560320"/>
            <a:ext cx="30175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 4 quarterly files → de-duplicated (20,446) → kept ≥ 2 skills (13,142) → sampled 8,000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Fields: title, company, location, description, schedule, remote flag, salary, skill list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data/prepare_dataset.py makes the process reproducible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Syed Mohiuddin Mudassir · 415789 · MSc Computer Science · AI-Powered Job Recommendation System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recommender works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= content-based filtering + collaborative filtering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371600"/>
            <a:ext cx="182880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profile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· title · experience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3017520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3017520"/>
            <a:ext cx="182880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1 · save 3 · apply 5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834640" y="128016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2F5BEA"/>
          </a:solidFill>
          <a:ln w="12700">
            <a:solidFill>
              <a:srgbClr val="2F5B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834640" y="1280160"/>
            <a:ext cx="274320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Content-based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(8,000 × 40k) + cosine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½ text + ½ skill-set overlap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834640" y="292608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834640" y="2926080"/>
            <a:ext cx="274320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item-kNN cosine + TruncatedSVD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(40 latent factors)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2011680"/>
            <a:ext cx="2560320" cy="1097280"/>
          </a:xfrm>
          <a:prstGeom prst="roundRect">
            <a:avLst>
              <a:gd name="adj" fmla="val 6667"/>
            </a:avLst>
          </a:prstGeom>
          <a:solidFill>
            <a:srgbClr val="12805C"/>
          </a:solidFill>
          <a:ln w="12700">
            <a:solidFill>
              <a:srgbClr val="12805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126480" y="2011680"/>
            <a:ext cx="256032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score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· content + (1 − α) · CF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= 0.3 · cold start → content only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286000" y="1737360"/>
            <a:ext cx="548640" cy="0"/>
          </a:xfrm>
          <a:prstGeom prst="line">
            <a:avLst/>
          </a:prstGeom>
          <a:noFill/>
          <a:ln w="19050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286000" y="3383280"/>
            <a:ext cx="548640" cy="0"/>
          </a:xfrm>
          <a:prstGeom prst="line">
            <a:avLst/>
          </a:prstGeom>
          <a:noFill/>
          <a:ln w="19050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577840" y="1737360"/>
            <a:ext cx="548640" cy="640080"/>
          </a:xfrm>
          <a:prstGeom prst="line">
            <a:avLst/>
          </a:prstGeom>
          <a:noFill/>
          <a:ln w="19050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577840" y="3383280"/>
            <a:ext cx="548640" cy="-640080"/>
          </a:xfrm>
          <a:prstGeom prst="line">
            <a:avLst/>
          </a:prstGeom>
          <a:noFill/>
          <a:ln w="19050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(location · remote · min salary) → top-k list with matched / missing skills for every job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Syed Mohiuddin Mudassir · 415789 · MSc Computer Science · AI-Powered Job Recommendation System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Simulating users for collaborative filtering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profiles for development – as stated in the proposal – real users only with consent in the evaluation phase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651760" cy="3108960"/>
          </a:xfrm>
          <a:prstGeom prst="roundRect">
            <a:avLst>
              <a:gd name="adj" fmla="val 2759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3716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Career tracks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691640"/>
            <a:ext cx="23774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clusters the 8,000 TF-IDF job vectors into 25 tracks (e.g. Power BI reporting, Python/Spark engineering, SAS/healthcare analytics).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46120" y="1280160"/>
            <a:ext cx="2651760" cy="3108960"/>
          </a:xfrm>
          <a:prstGeom prst="roundRect">
            <a:avLst>
              <a:gd name="adj" fmla="val 2759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83280" y="13716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300 users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383280" y="1691640"/>
            <a:ext cx="23774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user belongs to one track and gets 3–8 of that track's common skills plus a little noise, a target title and an experience sentence.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35040" y="1280160"/>
            <a:ext cx="2651760" cy="3108960"/>
          </a:xfrm>
          <a:prstGeom prst="roundRect">
            <a:avLst>
              <a:gd name="adj" fmla="val 2759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72200" y="13716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4,213 interactions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172200" y="1691640"/>
            <a:ext cx="23774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user views / saves / applies to 8–20 jobs in the track, with probability ∝ skill overlap. These are the ground truth for evaluation.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Syed Mohiuddin Mudassir · 415789 · MSc Computer Science · AI-Powered Job Recommendation System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Evaluation: precision@k and recall@k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Per-user 70 / 30 split · 3,068 train / 1,145 held-out interactions · a hit = recommended job is in the held-out set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280160"/>
          <a:ext cx="41148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663440" y="1280160"/>
          <a:ext cx="41148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Syed Mohiuddin Mudassir · 415789 · MSc Computer Science · AI-Powered Job Recommendation System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at k = 10 and the choice of α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= 1 pure content · α = 0 pure collaborative · best at α = 0.3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48463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914400"/>
                <a:gridCol w="914400"/>
                <a:gridCol w="914400"/>
                <a:gridCol w="91440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Precision@10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Recall@10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Hit-rate@10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NDCG@10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popularity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collaborative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0.194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C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6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C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6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C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6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C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6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C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0.182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6E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Chart 0" descr=""/>
          <p:cNvGraphicFramePr/>
          <p:nvPr/>
        </p:nvGraphicFramePr>
        <p:xfrm>
          <a:off x="5486400" y="1188720"/>
          <a:ext cx="3291840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2"/>
          <p:cNvSpPr/>
          <p:nvPr/>
        </p:nvSpPr>
        <p:spPr>
          <a:xfrm>
            <a:off x="457200" y="3154680"/>
            <a:ext cx="4846320" cy="1463040"/>
          </a:xfrm>
          <a:prstGeom prst="roundRect">
            <a:avLst>
              <a:gd name="adj" fmla="val 500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594360" y="3246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the numbers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594360" y="3566160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~3.8 relevant jobs per user among 8,000 → random precision@10 ≈ 0.0005. The hybrid is ≈ 8× popularity and ≈ 187× random. Hit-rate@10 = 0.48: 48% of users get a truly relevant job in their first 10 results.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5486400" y="3520440"/>
            <a:ext cx="3291840" cy="1097280"/>
          </a:xfrm>
          <a:prstGeom prst="roundRect">
            <a:avLst>
              <a:gd name="adj" fmla="val 6667"/>
            </a:avLst>
          </a:prstGeom>
          <a:solidFill>
            <a:srgbClr val="E6F6EF"/>
          </a:solidFill>
          <a:ln w="12700">
            <a:solidFill>
              <a:srgbClr val="E6F6EF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623560" y="36118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8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5623560" y="393192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content and collaborative signals beats either alone – the project hypothesis is supported.</a:t>
            </a:r>
            <a:endParaRPr lang="en-US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Syed Mohiuddin Mudassir · 415789 · MSc Computer Science · AI-Powered Job Recommendation System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web application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+ SQLite · authentication · profile · keyword search · explainable recommendations · REST API</a:t>
            </a:r>
            <a:endParaRPr lang="en-US" sz="1300" dirty="0"/>
          </a:p>
        </p:txBody>
      </p:sp>
      <p:pic>
        <p:nvPicPr>
          <p:cNvPr id="4" name="Image 0" descr="03_recommendations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3474720" cy="3393281"/>
          </a:xfrm>
          <a:prstGeom prst="rect">
            <a:avLst/>
          </a:prstGeom>
        </p:spPr>
      </p:pic>
      <p:pic>
        <p:nvPicPr>
          <p:cNvPr id="5" name="Image 1" descr="01_home_crop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206240" y="1234440"/>
            <a:ext cx="4480560" cy="1575197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206240" y="3017520"/>
            <a:ext cx="44805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✓ = skills you match · grey = skills to learn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 shows “cold start” (content only) or “hybrid”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score shows its content and CF components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/ Apply feed the CF model, which retrains every 5 interactions</a:t>
            </a:r>
            <a:endParaRPr lang="en-US" sz="11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Syed Mohiuddin Mudassir · 415789 · MSc Computer Science · AI-Powered Job Recommendation System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demonstration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5 minutes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57200" cy="457200"/>
          </a:xfrm>
          <a:prstGeom prst="ellipse">
            <a:avLst/>
          </a:prstGeom>
          <a:solidFill>
            <a:srgbClr val="2F5BEA"/>
          </a:solidFill>
          <a:ln w="12700">
            <a:solidFill>
              <a:srgbClr val="2F5B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2801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search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664208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jobs → “tableau”: 3,000+ unordered results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1371600"/>
            <a:ext cx="457200" cy="457200"/>
          </a:xfrm>
          <a:prstGeom prst="ellipse">
            <a:avLst/>
          </a:prstGeom>
          <a:solidFill>
            <a:srgbClr val="2F5BEA"/>
          </a:solidFill>
          <a:ln w="12700">
            <a:solidFill>
              <a:srgbClr val="2F5B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9184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886200" y="12801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user (cold start)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886200" y="1664208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up, enter skills → content-only recommendations with explanations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371600"/>
            <a:ext cx="457200" cy="457200"/>
          </a:xfrm>
          <a:prstGeom prst="ellipse">
            <a:avLst/>
          </a:prstGeom>
          <a:solidFill>
            <a:srgbClr val="2F5BEA"/>
          </a:solidFill>
          <a:ln w="12700">
            <a:solidFill>
              <a:srgbClr val="2F5BE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12648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720840" y="12801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720840" y="1664208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/ apply → interactions stored, CF retrains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063240"/>
            <a:ext cx="457200" cy="457200"/>
          </a:xfrm>
          <a:prstGeom prst="ellipse">
            <a:avLst/>
          </a:prstGeom>
          <a:solidFill>
            <a:srgbClr val="2F5BEA"/>
          </a:solidFill>
          <a:ln w="12700">
            <a:solidFill>
              <a:srgbClr val="2F5BE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29718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user (hybrid)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051560" y="3355848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/ demo123 → hybrid badge, content + CF sub-scores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91840" y="3063240"/>
            <a:ext cx="457200" cy="457200"/>
          </a:xfrm>
          <a:prstGeom prst="ellipse">
            <a:avLst/>
          </a:prstGeom>
          <a:solidFill>
            <a:srgbClr val="2F5BEA"/>
          </a:solidFill>
          <a:ln w="12700">
            <a:solidFill>
              <a:srgbClr val="2F5BE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29184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3886200" y="29718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3886200" y="3355848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only, minimum salary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26480" y="3063240"/>
            <a:ext cx="457200" cy="457200"/>
          </a:xfrm>
          <a:prstGeom prst="ellipse">
            <a:avLst/>
          </a:prstGeom>
          <a:solidFill>
            <a:srgbClr val="2F5BEA"/>
          </a:solidFill>
          <a:ln w="12700">
            <a:solidFill>
              <a:srgbClr val="2F5BE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12648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720840" y="29718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page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720840" y="3355848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/ recall tables, plot, α sweep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Syed Mohiuddin Mudassir · 415789 · MSc Computer Science · AI-Powered Job Recommendation System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and future work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4023360" cy="3291840"/>
          </a:xfrm>
          <a:prstGeom prst="roundRect">
            <a:avLst>
              <a:gd name="adj" fmla="val 2222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3716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691640"/>
            <a:ext cx="37490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Collaborative model trained on simulated users – the 20-participant user study from the proposal is the next step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Dataset is US-centric and analytics-focused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TF-IDF cannot match synonyms (“dashboards” ≠ “data visualisation”)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Popularity bias is possible in the CF component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663440" y="1280160"/>
            <a:ext cx="4023360" cy="3291840"/>
          </a:xfrm>
          <a:prstGeom prst="roundRect">
            <a:avLst>
              <a:gd name="adj" fmla="val 2222"/>
            </a:avLst>
          </a:prstGeom>
          <a:solidFill>
            <a:srgbClr val="E6F6EF"/>
          </a:solidFill>
          <a:ln w="12700">
            <a:solidFill>
              <a:srgbClr val="E6F6E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00600" y="13716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8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800600" y="1691640"/>
            <a:ext cx="37490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Add UK postings from Reed / Indeed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Sentence-BERT embeddings instead of TF-IDF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Implicit-feedback ALS or a two-tower neural recommender (Covington et al., 2016)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A/B testing of click-through in production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Deployment on PythonAnywhere / AWS free tier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Syed Mohiuddin Mudassir · 415789 · MSc Computer Science · AI-Powered Job Recommendation System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80467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8,000-posting dataset with 127 annotated skills (Kaggle, public data only)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hybrid recommender: TF-IDF + cosine similarity + item-kNN / SVD collaborative filtering, α = 0.3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web app with authentication, profiles, search, explainable recommendations, online retraining and REST API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Evaluation: hybrid precision@10 = 0.089, recall@20 = 0.317, hit-rate@10 = 0.48 – beats content, collaborative and popularity baselines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– questions?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Syed Mohiuddin Mudassir · 415789 · MSc Computer Science · AI-Powered Job Recommendation System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Job Recommendation System</dc:title>
  <dc:subject>PptxGenJS Presentation</dc:subject>
  <dc:creator>Syed Mohiuddin Mudassir</dc:creator>
  <cp:lastModifiedBy>Syed Mohiuddin Mudassir</cp:lastModifiedBy>
  <cp:revision>1</cp:revision>
  <dcterms:created xsi:type="dcterms:W3CDTF">2026-09-29T11:30:00Z</dcterms:created>
  <dcterms:modified xsi:type="dcterms:W3CDTF">2026-09-29T11:30:00Z</dcterms:modified>
</cp:coreProperties>
</file>